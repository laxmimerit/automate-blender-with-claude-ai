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0EDE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0EDE8"/>
                </a:solidFill>
                <a:latin typeface="Arial"/>
              </a:rPr>
              <a:t>Revenue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873A"/>
              </a:solidFill>
              <a:effectLst/>
            </c:spPr>
          </c:dPt>
          <c:dPt>
            <c:idx val="1"/>
            <c:bubble3D val="0"/>
            <c:spPr>
              <a:solidFill>
                <a:srgbClr val="2EC4B6"/>
              </a:solidFill>
              <a:effectLst/>
            </c:spPr>
          </c:dPt>
          <c:dPt>
            <c:idx val="2"/>
            <c:bubble3D val="0"/>
            <c:spPr>
              <a:solidFill>
                <a:srgbClr val="9C6FFF"/>
              </a:solidFill>
              <a:effectLst/>
            </c:spPr>
          </c:dPt>
          <c:dPt>
            <c:idx val="3"/>
            <c:bubble3D val="0"/>
            <c:spPr>
              <a:solidFill>
                <a:srgbClr val="4CAF7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Coffee &amp; Beverages</c:v>
                </c:pt>
                <c:pt idx="1">
                  <c:v>Snacks &amp; Quick Bites</c:v>
                </c:pt>
                <c:pt idx="2">
                  <c:v>Meals</c:v>
                </c:pt>
                <c:pt idx="3">
                  <c:v>Desserts &amp; Others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78</c:v>
                </c:pt>
                <c:pt idx="1">
                  <c:v>51.5</c:v>
                </c:pt>
                <c:pt idx="2">
                  <c:v>15.7</c:v>
                </c:pt>
                <c:pt idx="3">
                  <c:v>5.8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E9E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0EDE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0EDE8"/>
                </a:solidFill>
                <a:latin typeface="Arial"/>
              </a:rPr>
              <a:t>Monthly Growth (FY 2025)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($M)</c:v>
                </c:pt>
              </c:strCache>
            </c:strRef>
          </c:tx>
          <c:spPr>
            <a:solidFill>
              <a:srgbClr val="C8873A"/>
            </a:solidFill>
            <a:ln w="38100" cap="flat">
              <a:solidFill>
                <a:srgbClr val="C887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873A"/>
              </a:solidFill>
              <a:ln w="9525" cap="flat">
                <a:solidFill>
                  <a:srgbClr val="C887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8.2</c:v>
                </c:pt>
                <c:pt idx="1">
                  <c:v>9.4</c:v>
                </c:pt>
                <c:pt idx="2">
                  <c:v>11.7</c:v>
                </c:pt>
                <c:pt idx="3">
                  <c:v>12.8</c:v>
                </c:pt>
                <c:pt idx="4">
                  <c:v>13.9</c:v>
                </c:pt>
                <c:pt idx="5">
                  <c:v>14.6</c:v>
                </c:pt>
                <c:pt idx="6">
                  <c:v>15.2</c:v>
                </c:pt>
                <c:pt idx="7">
                  <c:v>15.9</c:v>
                </c:pt>
                <c:pt idx="8">
                  <c:v>17</c:v>
                </c:pt>
                <c:pt idx="9">
                  <c:v>17.8</c:v>
                </c:pt>
                <c:pt idx="10">
                  <c:v>18.7</c:v>
                </c:pt>
                <c:pt idx="11">
                  <c:v>16.5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EDE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0EDE8"/>
                </a:solidFill>
                <a:latin typeface="Arial"/>
              </a:rPr>
              <a:t>Fund Allocation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 ($)</c:v>
                </c:pt>
              </c:strCache>
            </c:strRef>
          </c:tx>
          <c:spPr>
            <a:solidFill>
              <a:srgbClr val="C88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0EDE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87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8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6F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CAF7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New Outlets</c:v>
                  </c:pt>
                  <c:pt idx="1">
                    <c:v>Equipment</c:v>
                  </c:pt>
                  <c:pt idx="2">
                    <c:v>Marketing</c:v>
                  </c:pt>
                  <c:pt idx="3">
                    <c:v>Tech &amp; App</c:v>
                  </c:pt>
                  <c:pt idx="4">
                    <c:v>Working Capital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1000000</c:v>
                </c:pt>
                <c:pt idx="1">
                  <c:v>600000</c:v>
                </c:pt>
                <c:pt idx="2">
                  <c:v>400000</c:v>
                </c:pt>
                <c:pt idx="3">
                  <c:v>300000</c:v>
                </c:pt>
                <c:pt idx="4">
                  <c:v>200000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0EDE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E1500"/>
          </a:solidFill>
          <a:ln w="19050">
            <a:solidFill>
              <a:srgbClr val="C887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6576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36576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36576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7" name="Shape 5"/>
          <p:cNvSpPr/>
          <p:nvPr/>
        </p:nvSpPr>
        <p:spPr>
          <a:xfrm>
            <a:off x="8275320" y="36576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68580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9" name="Shape 7"/>
          <p:cNvSpPr/>
          <p:nvPr/>
        </p:nvSpPr>
        <p:spPr>
          <a:xfrm>
            <a:off x="7635240" y="68580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0" y="68580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11" name="Shape 9"/>
          <p:cNvSpPr/>
          <p:nvPr/>
        </p:nvSpPr>
        <p:spPr>
          <a:xfrm>
            <a:off x="8275320" y="68580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0" y="100584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635240" y="100584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100584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00584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132588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17" name="Shape 15"/>
          <p:cNvSpPr/>
          <p:nvPr/>
        </p:nvSpPr>
        <p:spPr>
          <a:xfrm>
            <a:off x="7635240" y="132588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18" name="Shape 16"/>
          <p:cNvSpPr/>
          <p:nvPr/>
        </p:nvSpPr>
        <p:spPr>
          <a:xfrm>
            <a:off x="7955280" y="132588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75320" y="1325880"/>
            <a:ext cx="54864" cy="54864"/>
          </a:xfrm>
          <a:prstGeom prst="ellipse">
            <a:avLst/>
          </a:prstGeom>
          <a:solidFill>
            <a:srgbClr val="3A2800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822960" cy="8229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54480" y="74980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0E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KGP VIBES CAFÉ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1554480" y="138988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A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Code Meets Coffee.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40080" y="1965960"/>
            <a:ext cx="7863840" cy="228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4" name="Text 21"/>
          <p:cNvSpPr/>
          <p:nvPr/>
        </p:nvSpPr>
        <p:spPr>
          <a:xfrm>
            <a:off x="1005840" y="22402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$15.1M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1005840" y="2788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749040" y="22402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21.3%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3749040" y="2788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92240" y="22402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64%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6492240" y="2788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10E00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  •  FY 2025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008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India  •  Est. 2025</a:t>
            </a:r>
            <a:endParaRPr lang="en-US" sz="12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114800"/>
            <a:ext cx="365760" cy="36576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18388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India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0E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E8A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68680"/>
            <a:ext cx="2743200" cy="36118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68680"/>
            <a:ext cx="2743200" cy="54864"/>
          </a:xfrm>
          <a:prstGeom prst="rect">
            <a:avLst/>
          </a:prstGeom>
          <a:solidFill>
            <a:srgbClr val="E052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115568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Work-Friendly Spaces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" y="2514600"/>
            <a:ext cx="239572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lacks modern cafés built for students and remote professionals to work, code, and collaborate for hours without pressure.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64408" y="868680"/>
            <a:ext cx="2743200" cy="36118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64408" y="868680"/>
            <a:ext cx="2743200" cy="54864"/>
          </a:xfrm>
          <a:prstGeom prst="rect">
            <a:avLst/>
          </a:prstGeom>
          <a:solidFill>
            <a:srgbClr val="C887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115568"/>
            <a:ext cx="658368" cy="658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19202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Late-Night Dead Zones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47288" y="2514600"/>
            <a:ext cx="239572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9 PM, affordable quality café options vanish. Students and developers are left without productive, safe hangout spots.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6208" y="868680"/>
            <a:ext cx="2743200" cy="36118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36208" y="868680"/>
            <a:ext cx="2743200" cy="54864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115568"/>
            <a:ext cx="658368" cy="6583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19202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 Community Culture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19088" y="2514600"/>
            <a:ext cx="239572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dedicated hubs for startup meetups, coding nights, or tech networking — killing peer learning and collaboration.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customers are students  •  Peak demand 6 PM–11 PM with no quality options available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A08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87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3200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E8A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28600" y="3749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tech-themed café that serves the student and developer community with quality, affordability, and community.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434840" y="594360"/>
            <a:ext cx="594360" cy="594360"/>
          </a:xfrm>
          <a:prstGeom prst="ellipse">
            <a:avLst/>
          </a:prstGeom>
          <a:solidFill>
            <a:srgbClr val="1E1E1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612648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66360" y="566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Work-Ready Environment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166360" y="9326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WiFi, power outlets, ergonomic seating for long coding sessions.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34840" y="1664208"/>
            <a:ext cx="448056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2" name="Shape 8"/>
          <p:cNvSpPr/>
          <p:nvPr/>
        </p:nvSpPr>
        <p:spPr>
          <a:xfrm>
            <a:off x="4434840" y="2103120"/>
            <a:ext cx="594360" cy="594360"/>
          </a:xfrm>
          <a:prstGeom prst="ellipse">
            <a:avLst/>
          </a:prstGeom>
          <a:solidFill>
            <a:srgbClr val="1E1E1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21408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66360" y="2075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Affordable Premium Coffee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166360" y="24414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specialty brews from $2 chai to $4.50 cold brew — always accessible.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434840" y="3172968"/>
            <a:ext cx="448056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Shape 12"/>
          <p:cNvSpPr/>
          <p:nvPr/>
        </p:nvSpPr>
        <p:spPr>
          <a:xfrm>
            <a:off x="4434840" y="3611880"/>
            <a:ext cx="594360" cy="594360"/>
          </a:xfrm>
          <a:prstGeom prst="ellipse">
            <a:avLst/>
          </a:prstGeom>
          <a:solidFill>
            <a:srgbClr val="1E1E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3630168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66360" y="3584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Events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166360" y="39502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nights, startup meetups, hackathons, and tech talks — weekly events.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0E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E8A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&amp; REVENUE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96596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804672"/>
            <a:ext cx="1965960" cy="45720"/>
          </a:xfrm>
          <a:prstGeom prst="rect">
            <a:avLst/>
          </a:prstGeom>
          <a:solidFill>
            <a:srgbClr val="E8A855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914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$15.1M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56032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32304" y="804672"/>
            <a:ext cx="196596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2432304" y="804672"/>
            <a:ext cx="1965960" cy="4572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0" name="Text 8"/>
          <p:cNvSpPr/>
          <p:nvPr/>
        </p:nvSpPr>
        <p:spPr>
          <a:xfrm>
            <a:off x="2432304" y="914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AF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$3.22M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32304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08576" y="804672"/>
            <a:ext cx="196596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08576" y="804672"/>
            <a:ext cx="1965960" cy="457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914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68.2%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08576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84848" y="804672"/>
            <a:ext cx="196596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6784848" y="804672"/>
            <a:ext cx="1965960" cy="45720"/>
          </a:xfrm>
          <a:prstGeom prst="rect">
            <a:avLst/>
          </a:prstGeom>
          <a:solidFill>
            <a:srgbClr val="9C6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784848" y="914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84848" y="1463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</a:t>
            </a:r>
            <a:endParaRPr lang="en-US" sz="10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28600" y="2084832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4251960" y="2084832"/>
          <a:ext cx="46634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605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0E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OPPORTUNITY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Scalable. Repeatable. Community-first.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339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Outlets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1560" y="2304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Mumbai locations targeting Andheri &amp; Powai tech corridors by Q3 2026.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9923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Subscription Plans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51560" y="33101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coffee subscriptions offering 20 drinks/month — building ARR.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0507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Franchise Model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051560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the brand to Pune, Bengaluru &amp; Hyderabad by 2027 with playbook ready.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263640" y="457200"/>
            <a:ext cx="2560320" cy="1188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0"/>
          <p:cNvSpPr/>
          <p:nvPr/>
        </p:nvSpPr>
        <p:spPr>
          <a:xfrm>
            <a:off x="6263640" y="548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1"/>
          <p:cNvSpPr/>
          <p:nvPr/>
        </p:nvSpPr>
        <p:spPr>
          <a:xfrm>
            <a:off x="62636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Outlets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2026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263640" y="1965960"/>
            <a:ext cx="2560320" cy="1188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3"/>
          <p:cNvSpPr/>
          <p:nvPr/>
        </p:nvSpPr>
        <p:spPr>
          <a:xfrm>
            <a:off x="626364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626364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Café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Booming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263640" y="3474720"/>
            <a:ext cx="2560320" cy="1188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1" name="Text 16"/>
          <p:cNvSpPr/>
          <p:nvPr/>
        </p:nvSpPr>
        <p:spPr>
          <a:xfrm>
            <a:off x="6263640" y="3566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C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2x</a:t>
            </a:r>
            <a:endParaRPr lang="en-US" sz="3200" dirty="0"/>
          </a:p>
        </p:txBody>
      </p:sp>
      <p:sp>
        <p:nvSpPr>
          <p:cNvPr id="22" name="Text 17"/>
          <p:cNvSpPr/>
          <p:nvPr/>
        </p:nvSpPr>
        <p:spPr>
          <a:xfrm>
            <a:off x="626364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0E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 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0" cy="1371600"/>
          </a:xfrm>
          <a:prstGeom prst="rect">
            <a:avLst/>
          </a:prstGeom>
          <a:solidFill>
            <a:srgbClr val="1E14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13716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2412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$2,500,000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Round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297680" y="868680"/>
          <a:ext cx="4663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401568"/>
            <a:ext cx="265176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3401568"/>
            <a:ext cx="2651760" cy="4572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5204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AF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$28M+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57200" y="3950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Revenue FY2026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55848" y="3401568"/>
            <a:ext cx="265176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1"/>
          <p:cNvSpPr/>
          <p:nvPr/>
        </p:nvSpPr>
        <p:spPr>
          <a:xfrm>
            <a:off x="3355848" y="3401568"/>
            <a:ext cx="2651760" cy="45720"/>
          </a:xfrm>
          <a:prstGeom prst="rect">
            <a:avLst/>
          </a:prstGeom>
          <a:solidFill>
            <a:srgbClr val="E8A855"/>
          </a:solidFill>
          <a:ln/>
        </p:spPr>
      </p:sp>
      <p:sp>
        <p:nvSpPr>
          <p:cNvPr id="15" name="Text 12"/>
          <p:cNvSpPr/>
          <p:nvPr/>
        </p:nvSpPr>
        <p:spPr>
          <a:xfrm>
            <a:off x="3355848" y="35204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Months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355848" y="3950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per outlet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54496" y="3401568"/>
            <a:ext cx="265176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5"/>
          <p:cNvSpPr/>
          <p:nvPr/>
        </p:nvSpPr>
        <p:spPr>
          <a:xfrm>
            <a:off x="6254496" y="3401568"/>
            <a:ext cx="2651760" cy="457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9" name="Text 16"/>
          <p:cNvSpPr/>
          <p:nvPr/>
        </p:nvSpPr>
        <p:spPr>
          <a:xfrm>
            <a:off x="6254496" y="35204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24%+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254496" y="3950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Net Margin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0F00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5537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A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 in building Mumbai's most iconic tech café brand — one cup at a time.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4818888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709160" y="4846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kgpvibescafe.com  •  Mumbai, India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KGP Vibes Café – Investor Pitch</dc:title>
  <dc:subject>PptxGenJS Presentation</dc:subject>
  <dc:creator>PptxGenJS</dc:creator>
  <cp:lastModifiedBy>PptxGenJS</cp:lastModifiedBy>
  <cp:revision>1</cp:revision>
  <dcterms:created xsi:type="dcterms:W3CDTF">2026-05-06T12:38:22Z</dcterms:created>
  <dcterms:modified xsi:type="dcterms:W3CDTF">2026-05-06T12:38:22Z</dcterms:modified>
</cp:coreProperties>
</file>