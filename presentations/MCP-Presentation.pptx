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4" autoAdjust="0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51" y="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2496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D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line">
            <a:avLst/>
          </a:prstGeom>
          <a:solidFill>
            <a:srgbClr val="5D2E46"/>
          </a:solidFill>
          <a:ln w="127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5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MCP?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 flipV="1">
            <a:off x="411480" y="978408"/>
            <a:ext cx="8229600" cy="27432"/>
          </a:xfrm>
          <a:prstGeom prst="line">
            <a:avLst/>
          </a:prstGeom>
          <a:solidFill>
            <a:srgbClr val="E8D5C4"/>
          </a:solidFill>
          <a:ln w="19050">
            <a:solidFill>
              <a:srgbClr val="D4A5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(Model Context Protocol) is an open standard introduced by Anthropic that defines how AI models communicate with external tools, data sources, and services — giving them real-world capabilities beyond their training data.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44952" y="2148840"/>
            <a:ext cx="18288" cy="2560320"/>
          </a:xfrm>
          <a:prstGeom prst="line">
            <a:avLst/>
          </a:prstGeom>
          <a:solidFill>
            <a:srgbClr val="FFFFFF"/>
          </a:solidFill>
          <a:ln w="12700">
            <a:solidFill>
              <a:srgbClr val="D4A5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7320" y="2487168"/>
            <a:ext cx="594360" cy="594360"/>
          </a:xfrm>
          <a:prstGeom prst="ellipse">
            <a:avLst/>
          </a:prstGeom>
          <a:solidFill>
            <a:srgbClr val="D4A5A5"/>
          </a:solidFill>
          <a:ln w="1270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472" y="2551176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3200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Standardised Interface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36118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universal protocol for all AI-to-tool connections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 flipH="1">
            <a:off x="5897880" y="2148840"/>
            <a:ext cx="18288" cy="2560320"/>
          </a:xfrm>
          <a:prstGeom prst="line">
            <a:avLst/>
          </a:prstGeom>
          <a:solidFill>
            <a:srgbClr val="FFFFFF"/>
          </a:solidFill>
          <a:ln w="12700">
            <a:solidFill>
              <a:srgbClr val="D4A5A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51960" y="2487168"/>
            <a:ext cx="594360" cy="594360"/>
          </a:xfrm>
          <a:prstGeom prst="ellipse">
            <a:avLst/>
          </a:prstGeom>
          <a:solidFill>
            <a:srgbClr val="D4A5A5"/>
          </a:solidFill>
          <a:ln w="1270">
            <a:solidFill>
              <a:srgbClr val="FFFFFF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5112" y="2551176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37560" y="3200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Bidirectional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337560" y="36118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read from AND write to external systems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732520" y="2101362"/>
            <a:ext cx="0" cy="2607798"/>
          </a:xfrm>
          <a:prstGeom prst="line">
            <a:avLst/>
          </a:prstGeom>
          <a:solidFill>
            <a:srgbClr val="FFFFFF"/>
          </a:solidFill>
          <a:ln w="12700">
            <a:solidFill>
              <a:srgbClr val="D4A5A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086600" y="2487168"/>
            <a:ext cx="594360" cy="594360"/>
          </a:xfrm>
          <a:prstGeom prst="ellipse">
            <a:avLst/>
          </a:prstGeom>
          <a:solidFill>
            <a:srgbClr val="D4A5A5"/>
          </a:solidFill>
          <a:ln w="1270">
            <a:solidFill>
              <a:srgbClr val="FFFFFF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9752" y="2551176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72200" y="3200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 by Design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172200" y="36118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permissions — AI only accesses what it's allowed to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line">
            <a:avLst/>
          </a:prstGeom>
          <a:solidFill>
            <a:srgbClr val="5D2E46"/>
          </a:solidFill>
          <a:ln w="127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MCP Works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43000"/>
          <a:ext cx="8595360" cy="1463040"/>
        </p:xfrm>
        <a:graphic>
          <a:graphicData uri="http://schemas.openxmlformats.org/drawingml/2006/table">
            <a:tbl>
              <a:tblPr bandRow="1"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AI Application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e.g. Claude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127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B87D6D"/>
                          </a:solidFill>
                        </a:rPr>
                        <a:t>→</a:t>
                      </a:r>
                      <a:endParaRPr lang="en-US" sz="2000" dirty="0"/>
                    </a:p>
                  </a:txBody>
                  <a:tcPr anchor="ctr">
                    <a:lnL w="127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MCP Client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Protocol layer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127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D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B87D6D"/>
                          </a:solidFill>
                        </a:rPr>
                        <a:t>→</a:t>
                      </a:r>
                      <a:endParaRPr lang="en-US" sz="2000" dirty="0"/>
                    </a:p>
                  </a:txBody>
                  <a:tcPr anchor="ctr">
                    <a:lnL w="127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MCP Server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Bridge service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127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D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B87D6D"/>
                          </a:solidFill>
                        </a:rPr>
                        <a:t>→</a:t>
                      </a:r>
                      <a:endParaRPr lang="en-US" sz="2000" dirty="0"/>
                    </a:p>
                  </a:txBody>
                  <a:tcPr anchor="ctr">
                    <a:lnL w="127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External Tool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APIs / Files / DBs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127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32688" y="3017520"/>
            <a:ext cx="457200" cy="457200"/>
          </a:xfrm>
          <a:prstGeom prst="ellipse">
            <a:avLst/>
          </a:prstGeom>
          <a:solidFill>
            <a:srgbClr val="5D2E46"/>
          </a:solidFill>
          <a:ln w="127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32688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74320" y="35478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Sends Request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3913632"/>
            <a:ext cx="2011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the AI to perform a task that needs external data or an action.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145536" y="3017520"/>
            <a:ext cx="457200" cy="457200"/>
          </a:xfrm>
          <a:prstGeom prst="ellipse">
            <a:avLst/>
          </a:prstGeom>
          <a:solidFill>
            <a:srgbClr val="5D2E46"/>
          </a:solidFill>
          <a:ln w="127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45536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487168" y="35478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Client Calls Server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487168" y="3913632"/>
            <a:ext cx="2011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app's MCP client sends a structured request to the relevant MCP server.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358384" y="3017520"/>
            <a:ext cx="457200" cy="457200"/>
          </a:xfrm>
          <a:prstGeom prst="ellipse">
            <a:avLst/>
          </a:prstGeom>
          <a:solidFill>
            <a:srgbClr val="5D2E46"/>
          </a:solidFill>
          <a:ln w="127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58384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700016" y="35478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 Executes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700016" y="3913632"/>
            <a:ext cx="2011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server runs the operation — queries a DB, reads a file, calls an API.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571232" y="3017520"/>
            <a:ext cx="457200" cy="457200"/>
          </a:xfrm>
          <a:prstGeom prst="ellipse">
            <a:avLst/>
          </a:prstGeom>
          <a:solidFill>
            <a:srgbClr val="5D2E46"/>
          </a:solidFill>
          <a:ln w="127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71232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912864" y="35478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 Returned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912864" y="3913632"/>
            <a:ext cx="2011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back to the AI, which uses it to craft a precise, informed response.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D5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line">
            <a:avLst/>
          </a:prstGeom>
          <a:solidFill>
            <a:srgbClr val="B87D6D"/>
          </a:solidFill>
          <a:ln w="127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line">
            <a:avLst/>
          </a:prstGeom>
          <a:solidFill>
            <a:srgbClr val="B87D6D"/>
          </a:solidFill>
          <a:ln w="127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5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MCP Matters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7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isolated chatbot  →  connected AI agent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8412480" cy="475488"/>
        </p:xfrm>
        <a:graphic>
          <a:graphicData uri="http://schemas.openxmlformats.org/drawingml/2006/table">
            <a:tbl>
              <a:tblPr bandRow="1"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Before MCP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127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8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After MCP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127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D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801368"/>
          <a:ext cx="8412480" cy="2999232"/>
        </p:xfrm>
        <a:graphic>
          <a:graphicData uri="http://schemas.openxmlformats.org/drawingml/2006/table">
            <a:tbl>
              <a:tblPr bandRow="1"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Each AI tool needed custom integrations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One protocol works for all AI models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0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Inconsistent security models per 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DA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Unified, auditable permission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4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Developers built one-off connectors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Build once, plug into any MCP-ready 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0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AI was disconnected from live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DA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AI has real-time context and live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4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D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0" y="0"/>
          <a:ext cx="3474720" cy="5143500"/>
        </p:xfrm>
        <a:graphic>
          <a:graphicData uri="http://schemas.openxmlformats.org/drawingml/2006/table">
            <a:tbl>
              <a:tblPr bandRow="1"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43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" cap="flat" cmpd="sng" algn="ctr">
                      <a:solidFill>
                        <a:srgbClr val="5D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" cap="flat" cmpd="sng" algn="ctr">
                      <a:solidFill>
                        <a:srgbClr val="5D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" cap="flat" cmpd="sng" algn="ctr">
                      <a:solidFill>
                        <a:srgbClr val="5D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" cap="flat" cmpd="sng" algn="ctr">
                      <a:solidFill>
                        <a:srgbClr val="5D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2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182880" y="3200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in Claude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Desktop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82880" y="169164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4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local AI with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D4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superpower plugins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514600"/>
            <a:ext cx="914400" cy="914400"/>
          </a:xfrm>
          <a:prstGeom prst="rect">
            <a:avLst/>
          </a:prstGeom>
        </p:spPr>
      </p:pic>
      <p:sp>
        <p:nvSpPr>
          <p:cNvPr id="2" name="Text 2"/>
          <p:cNvSpPr/>
          <p:nvPr/>
        </p:nvSpPr>
        <p:spPr>
          <a:xfrm>
            <a:off x="3703320" y="25603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Claude Desktop Uses MCP</a:t>
            </a:r>
            <a:endParaRPr lang="en-US" sz="2200" dirty="0"/>
          </a:p>
        </p:txBody>
      </p:sp>
      <p:sp>
        <p:nvSpPr>
          <p:cNvPr id="7" name="Shape 3"/>
          <p:cNvSpPr/>
          <p:nvPr/>
        </p:nvSpPr>
        <p:spPr>
          <a:xfrm flipV="1">
            <a:off x="3703320" y="850392"/>
            <a:ext cx="5023045" cy="18288"/>
          </a:xfrm>
          <a:prstGeom prst="line">
            <a:avLst/>
          </a:prstGeom>
          <a:solidFill>
            <a:srgbClr val="FFFFFF"/>
          </a:solidFill>
          <a:ln w="12700">
            <a:solidFill>
              <a:srgbClr val="D4A5A5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3703320" y="868680"/>
            <a:ext cx="9144" cy="896112"/>
          </a:xfrm>
          <a:prstGeom prst="line">
            <a:avLst/>
          </a:prstGeom>
          <a:solidFill>
            <a:srgbClr val="B87D6D"/>
          </a:solidFill>
          <a:ln w="127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192" y="1069848"/>
            <a:ext cx="411480" cy="411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343400" y="914400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 MCP Servers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4343400" y="1261872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add MCP server configs to claude_desktop_config.json — pointing to local scripts or services.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 flipV="1">
            <a:off x="3703320" y="1874520"/>
            <a:ext cx="5023045" cy="18288"/>
          </a:xfrm>
          <a:prstGeom prst="line">
            <a:avLst/>
          </a:prstGeom>
          <a:solidFill>
            <a:srgbClr val="FFFFFF"/>
          </a:solidFill>
          <a:ln w="12700">
            <a:solidFill>
              <a:srgbClr val="D4A5A5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3703320" y="1892808"/>
            <a:ext cx="9144" cy="877824"/>
          </a:xfrm>
          <a:prstGeom prst="line">
            <a:avLst/>
          </a:prstGeom>
          <a:solidFill>
            <a:srgbClr val="B87D6D"/>
          </a:solidFill>
          <a:ln w="1270">
            <a:solidFill>
              <a:srgbClr val="FFFFFF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2192" y="2093976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343400" y="1938528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Discovers Tools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4343400" y="2286000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launch, Claude Desktop reads the config, connects to each server, and loads available tools &amp; prompts.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3703320" y="2916936"/>
            <a:ext cx="4983480" cy="9144"/>
          </a:xfrm>
          <a:prstGeom prst="line">
            <a:avLst/>
          </a:prstGeom>
          <a:solidFill>
            <a:srgbClr val="FFFFFF"/>
          </a:solidFill>
          <a:ln w="12700">
            <a:solidFill>
              <a:srgbClr val="D4A5A5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3703320" y="2916936"/>
            <a:ext cx="0" cy="896112"/>
          </a:xfrm>
          <a:prstGeom prst="line">
            <a:avLst/>
          </a:prstGeom>
          <a:solidFill>
            <a:srgbClr val="B87D6D"/>
          </a:solidFill>
          <a:ln w="1270">
            <a:solidFill>
              <a:srgbClr val="FFFFFF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2192" y="3118104"/>
            <a:ext cx="411480" cy="4114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343400" y="2962656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in Conversation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4343400" y="3310128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"read my project folder" or "query my local database" — Claude calls the right MCP tool automatically.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3703320" y="3941064"/>
            <a:ext cx="5023045" cy="36576"/>
          </a:xfrm>
          <a:prstGeom prst="line">
            <a:avLst/>
          </a:prstGeom>
          <a:solidFill>
            <a:srgbClr val="FFFFFF"/>
          </a:solidFill>
          <a:ln w="12700">
            <a:solidFill>
              <a:srgbClr val="D4A5A5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3703320" y="3941064"/>
            <a:ext cx="9144" cy="896112"/>
          </a:xfrm>
          <a:prstGeom prst="line">
            <a:avLst/>
          </a:prstGeom>
          <a:solidFill>
            <a:srgbClr val="B87D6D"/>
          </a:solidFill>
          <a:ln w="1270">
            <a:solidFill>
              <a:srgbClr val="FFFFFF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22192" y="4142232"/>
            <a:ext cx="411480" cy="4114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343400" y="3986784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Permission Gating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4343400" y="4334256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 asks before executing sensitive actions — you stay in control of what Claude can access.</a:t>
            </a:r>
            <a:endParaRPr lang="en-US" sz="10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0" y="3584448"/>
          <a:ext cx="3474720" cy="347472"/>
        </p:xfrm>
        <a:graphic>
          <a:graphicData uri="http://schemas.openxmlformats.org/drawingml/2006/table">
            <a:tbl>
              <a:tblPr bandRow="1"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›  Runs MCP servers locally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" cap="flat" cmpd="sng" algn="ctr">
                      <a:solidFill>
                        <a:srgbClr val="5D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" cap="flat" cmpd="sng" algn="ctr">
                      <a:solidFill>
                        <a:srgbClr val="5D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" cap="flat" cmpd="sng" algn="ctr">
                      <a:solidFill>
                        <a:srgbClr val="5D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" cap="flat" cmpd="sng" algn="ctr">
                      <a:solidFill>
                        <a:srgbClr val="5D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2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0" y="3950208"/>
          <a:ext cx="3474720" cy="347472"/>
        </p:xfrm>
        <a:graphic>
          <a:graphicData uri="http://schemas.openxmlformats.org/drawingml/2006/table">
            <a:tbl>
              <a:tblPr bandRow="1"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›  Connects to files &amp; apps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" cap="flat" cmpd="sng" algn="ctr">
                      <a:solidFill>
                        <a:srgbClr val="5D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" cap="flat" cmpd="sng" algn="ctr">
                      <a:solidFill>
                        <a:srgbClr val="5D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" cap="flat" cmpd="sng" algn="ctr">
                      <a:solidFill>
                        <a:srgbClr val="5D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" cap="flat" cmpd="sng" algn="ctr">
                      <a:solidFill>
                        <a:srgbClr val="5D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2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0" y="4315968"/>
          <a:ext cx="3474720" cy="347472"/>
        </p:xfrm>
        <a:graphic>
          <a:graphicData uri="http://schemas.openxmlformats.org/drawingml/2006/table">
            <a:tbl>
              <a:tblPr bandRow="1"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›  No cloud needed for tools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" cap="flat" cmpd="sng" algn="ctr">
                      <a:solidFill>
                        <a:srgbClr val="5D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" cap="flat" cmpd="sng" algn="ctr">
                      <a:solidFill>
                        <a:srgbClr val="5D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" cap="flat" cmpd="sng" algn="ctr">
                      <a:solidFill>
                        <a:srgbClr val="5D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" cap="flat" cmpd="sng" algn="ctr">
                      <a:solidFill>
                        <a:srgbClr val="5D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2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0" y="4681728"/>
          <a:ext cx="3474720" cy="347472"/>
        </p:xfrm>
        <a:graphic>
          <a:graphicData uri="http://schemas.openxmlformats.org/drawingml/2006/table">
            <a:tbl>
              <a:tblPr bandRow="1"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›  User-controlled permissions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" cap="flat" cmpd="sng" algn="ctr">
                      <a:solidFill>
                        <a:srgbClr val="5D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" cap="flat" cmpd="sng" algn="ctr">
                      <a:solidFill>
                        <a:srgbClr val="5D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" cap="flat" cmpd="sng" algn="ctr">
                      <a:solidFill>
                        <a:srgbClr val="5D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" cap="flat" cmpd="sng" algn="ctr">
                      <a:solidFill>
                        <a:srgbClr val="5D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2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0" y="0"/>
          <a:ext cx="9144000" cy="914400"/>
        </p:xfrm>
        <a:graphic>
          <a:graphicData uri="http://schemas.openxmlformats.org/drawingml/2006/table">
            <a:tbl>
              <a:tblPr bandRow="1"/>
              <a:tblGrid>
                <a:gridCol w="91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Claude + Design Software via MCP</a:t>
                      </a:r>
                      <a:endParaRPr lang="en-US" sz="2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1270" cap="flat" cmpd="sng" algn="ctr">
                      <a:solidFill>
                        <a:srgbClr val="5D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" cap="flat" cmpd="sng" algn="ctr">
                      <a:solidFill>
                        <a:srgbClr val="5D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" cap="flat" cmpd="sng" algn="ctr">
                      <a:solidFill>
                        <a:srgbClr val="5D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" cap="flat" cmpd="sng" algn="ctr">
                      <a:solidFill>
                        <a:srgbClr val="5D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2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1005840"/>
          <a:ext cx="2788920" cy="594360"/>
        </p:xfrm>
        <a:graphic>
          <a:graphicData uri="http://schemas.openxmlformats.org/drawingml/2006/table">
            <a:tbl>
              <a:tblPr bandRow="1"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  Blender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1270" cap="flat" cmpd="sng" algn="ctr">
                      <a:solidFill>
                        <a:srgbClr val="5D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" cap="flat" cmpd="sng" algn="ctr">
                      <a:solidFill>
                        <a:srgbClr val="5D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" cap="flat" cmpd="sng" algn="ctr">
                      <a:solidFill>
                        <a:srgbClr val="5D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" cap="flat" cmpd="sng" algn="ctr">
                      <a:solidFill>
                        <a:srgbClr val="5D2E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2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1600200"/>
          <a:ext cx="2788920" cy="274320"/>
        </p:xfrm>
        <a:graphic>
          <a:graphicData uri="http://schemas.openxmlformats.org/drawingml/2006/table">
            <a:tbl>
              <a:tblPr bandRow="1"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6B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 Modelling &amp; Animation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" cap="flat" cmpd="sng" algn="ctr">
                      <a:solidFill>
                        <a:srgbClr val="F5E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" cap="flat" cmpd="sng" algn="ctr">
                      <a:solidFill>
                        <a:srgbClr val="F5E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" cap="flat" cmpd="sng" algn="ctr">
                      <a:solidFill>
                        <a:srgbClr val="F5E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" cap="flat" cmpd="sng" algn="ctr">
                      <a:solidFill>
                        <a:srgbClr val="F5E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1920240"/>
          <a:ext cx="2788920" cy="228600"/>
        </p:xfrm>
        <a:graphic>
          <a:graphicData uri="http://schemas.openxmlformats.org/drawingml/2006/table">
            <a:tbl>
              <a:tblPr bandRow="1"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SAMPLE PROMPT</a:t>
                      </a:r>
                      <a:endParaRPr lang="en-US" sz="800" dirty="0"/>
                    </a:p>
                  </a:txBody>
                  <a:tcPr anchor="ctr">
                    <a:lnL w="127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2148840"/>
          <a:ext cx="2788920" cy="1143000"/>
        </p:xfrm>
        <a:graphic>
          <a:graphicData uri="http://schemas.openxmlformats.org/drawingml/2006/table">
            <a:tbl>
              <a:tblPr bandRow="1"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3A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"Create a low-poly mountain scene with a sunset sky and export it as a .glb file."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3337560"/>
          <a:ext cx="2788920" cy="228600"/>
        </p:xfrm>
        <a:graphic>
          <a:graphicData uri="http://schemas.openxmlformats.org/drawingml/2006/table">
            <a:tbl>
              <a:tblPr bandRow="1"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WHAT CLAUDE DOES</a:t>
                      </a:r>
                      <a:endParaRPr lang="en-US" sz="800" dirty="0"/>
                    </a:p>
                  </a:txBody>
                  <a:tcPr anchor="ctr">
                    <a:lnL w="1270" cap="flat" cmpd="sng" algn="ctr">
                      <a:solidFill>
                        <a:srgbClr val="B87D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" cap="flat" cmpd="sng" algn="ctr">
                      <a:solidFill>
                        <a:srgbClr val="B87D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" cap="flat" cmpd="sng" algn="ctr">
                      <a:solidFill>
                        <a:srgbClr val="B87D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" cap="flat" cmpd="sng" algn="ctr">
                      <a:solidFill>
                        <a:srgbClr val="B87D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D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3566160"/>
          <a:ext cx="2788920" cy="1298448"/>
        </p:xfrm>
        <a:graphic>
          <a:graphicData uri="http://schemas.openxmlformats.org/drawingml/2006/table">
            <a:tbl>
              <a:tblPr bandRow="1"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98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triggers Blender's Python API via MCP to build and render the 3D scene.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168" y="1078992"/>
            <a:ext cx="402336" cy="402336"/>
          </a:xfrm>
          <a:prstGeom prst="rect">
            <a:avLst/>
          </a:prstGeom>
        </p:spPr>
      </p:pic>
      <p:graphicFrame>
        <p:nvGraphicFramePr>
          <p:cNvPr id="49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91256" y="1005840"/>
          <a:ext cx="2788920" cy="594360"/>
        </p:xfrm>
        <a:graphic>
          <a:graphicData uri="http://schemas.openxmlformats.org/drawingml/2006/table">
            <a:tbl>
              <a:tblPr bandRow="1"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  SketchUp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1270" cap="flat" cmpd="sng" algn="ctr">
                      <a:solidFill>
                        <a:srgbClr val="B87D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" cap="flat" cmpd="sng" algn="ctr">
                      <a:solidFill>
                        <a:srgbClr val="B87D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" cap="flat" cmpd="sng" algn="ctr">
                      <a:solidFill>
                        <a:srgbClr val="B87D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" cap="flat" cmpd="sng" algn="ctr">
                      <a:solidFill>
                        <a:srgbClr val="B87D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D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91256" y="1600200"/>
          <a:ext cx="2788920" cy="274320"/>
        </p:xfrm>
        <a:graphic>
          <a:graphicData uri="http://schemas.openxmlformats.org/drawingml/2006/table">
            <a:tbl>
              <a:tblPr bandRow="1"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6B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Architectural Design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" cap="flat" cmpd="sng" algn="ctr">
                      <a:solidFill>
                        <a:srgbClr val="F5E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" cap="flat" cmpd="sng" algn="ctr">
                      <a:solidFill>
                        <a:srgbClr val="F5E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" cap="flat" cmpd="sng" algn="ctr">
                      <a:solidFill>
                        <a:srgbClr val="F5E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" cap="flat" cmpd="sng" algn="ctr">
                      <a:solidFill>
                        <a:srgbClr val="F5E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91256" y="1920240"/>
          <a:ext cx="2788920" cy="228600"/>
        </p:xfrm>
        <a:graphic>
          <a:graphicData uri="http://schemas.openxmlformats.org/drawingml/2006/table">
            <a:tbl>
              <a:tblPr bandRow="1"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SAMPLE PROMPT</a:t>
                      </a:r>
                      <a:endParaRPr lang="en-US" sz="800" dirty="0"/>
                    </a:p>
                  </a:txBody>
                  <a:tcPr anchor="ctr">
                    <a:lnL w="127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7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91256" y="2148840"/>
          <a:ext cx="2788920" cy="1143000"/>
        </p:xfrm>
        <a:graphic>
          <a:graphicData uri="http://schemas.openxmlformats.org/drawingml/2006/table">
            <a:tbl>
              <a:tblPr bandRow="1"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3A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"Draw a 12×8m open-plan living room with 3m ceilings, two windows facing north."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3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91256" y="3337560"/>
          <a:ext cx="2788920" cy="228600"/>
        </p:xfrm>
        <a:graphic>
          <a:graphicData uri="http://schemas.openxmlformats.org/drawingml/2006/table">
            <a:tbl>
              <a:tblPr bandRow="1"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WHAT CLAUDE DOES</a:t>
                      </a:r>
                      <a:endParaRPr lang="en-US" sz="800" dirty="0"/>
                    </a:p>
                  </a:txBody>
                  <a:tcPr anchor="ctr">
                    <a:lnL w="1270" cap="flat" cmpd="sng" algn="ctr">
                      <a:solidFill>
                        <a:srgbClr val="B87D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" cap="flat" cmpd="sng" algn="ctr">
                      <a:solidFill>
                        <a:srgbClr val="B87D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" cap="flat" cmpd="sng" algn="ctr">
                      <a:solidFill>
                        <a:srgbClr val="B87D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" cap="flat" cmpd="sng" algn="ctr">
                      <a:solidFill>
                        <a:srgbClr val="B87D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D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9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91256" y="3566160"/>
          <a:ext cx="2788920" cy="1298448"/>
        </p:xfrm>
        <a:graphic>
          <a:graphicData uri="http://schemas.openxmlformats.org/drawingml/2006/table">
            <a:tbl>
              <a:tblPr bandRow="1"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98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sends dimensions to SketchUp via MCP; model is generated automatically.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7256" y="1078992"/>
            <a:ext cx="402336" cy="402336"/>
          </a:xfrm>
          <a:prstGeom prst="rect">
            <a:avLst/>
          </a:prstGeom>
        </p:spPr>
      </p:pic>
      <p:graphicFrame>
        <p:nvGraphicFramePr>
          <p:cNvPr id="85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1344" y="1005840"/>
          <a:ext cx="2788920" cy="594360"/>
        </p:xfrm>
        <a:graphic>
          <a:graphicData uri="http://schemas.openxmlformats.org/drawingml/2006/table">
            <a:tbl>
              <a:tblPr bandRow="1"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  Adobe CC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1270" cap="flat" cmpd="sng" algn="ctr">
                      <a:solidFill>
                        <a:srgbClr val="9B5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" cap="flat" cmpd="sng" algn="ctr">
                      <a:solidFill>
                        <a:srgbClr val="9B5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" cap="flat" cmpd="sng" algn="ctr">
                      <a:solidFill>
                        <a:srgbClr val="9B5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" cap="flat" cmpd="sng" algn="ctr">
                      <a:solidFill>
                        <a:srgbClr val="9B5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5E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1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1344" y="1600200"/>
          <a:ext cx="2788920" cy="274320"/>
        </p:xfrm>
        <a:graphic>
          <a:graphicData uri="http://schemas.openxmlformats.org/drawingml/2006/table">
            <a:tbl>
              <a:tblPr bandRow="1"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6B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Creative Suite (Photoshop / Illustrator)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" cap="flat" cmpd="sng" algn="ctr">
                      <a:solidFill>
                        <a:srgbClr val="F5E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" cap="flat" cmpd="sng" algn="ctr">
                      <a:solidFill>
                        <a:srgbClr val="F5E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" cap="flat" cmpd="sng" algn="ctr">
                      <a:solidFill>
                        <a:srgbClr val="F5E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" cap="flat" cmpd="sng" algn="ctr">
                      <a:solidFill>
                        <a:srgbClr val="F5E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7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1344" y="1920240"/>
          <a:ext cx="2788920" cy="228600"/>
        </p:xfrm>
        <a:graphic>
          <a:graphicData uri="http://schemas.openxmlformats.org/drawingml/2006/table">
            <a:tbl>
              <a:tblPr bandRow="1"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SAMPLE PROMPT</a:t>
                      </a:r>
                      <a:endParaRPr lang="en-US" sz="800" dirty="0"/>
                    </a:p>
                  </a:txBody>
                  <a:tcPr anchor="ctr">
                    <a:lnL w="127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3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1344" y="2148840"/>
          <a:ext cx="2788920" cy="1143000"/>
        </p:xfrm>
        <a:graphic>
          <a:graphicData uri="http://schemas.openxmlformats.org/drawingml/2006/table">
            <a:tbl>
              <a:tblPr bandRow="1"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3A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"Resize all product images to 1080×1080px, add a white background, export as PNG."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9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1344" y="3337560"/>
          <a:ext cx="2788920" cy="228600"/>
        </p:xfrm>
        <a:graphic>
          <a:graphicData uri="http://schemas.openxmlformats.org/drawingml/2006/table">
            <a:tbl>
              <a:tblPr bandRow="1"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WHAT CLAUDE DOES</a:t>
                      </a:r>
                      <a:endParaRPr lang="en-US" sz="800" dirty="0"/>
                    </a:p>
                  </a:txBody>
                  <a:tcPr anchor="ctr">
                    <a:lnL w="1270" cap="flat" cmpd="sng" algn="ctr">
                      <a:solidFill>
                        <a:srgbClr val="B87D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" cap="flat" cmpd="sng" algn="ctr">
                      <a:solidFill>
                        <a:srgbClr val="B87D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" cap="flat" cmpd="sng" algn="ctr">
                      <a:solidFill>
                        <a:srgbClr val="B87D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" cap="flat" cmpd="sng" algn="ctr">
                      <a:solidFill>
                        <a:srgbClr val="B87D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D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5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1344" y="3566160"/>
          <a:ext cx="2788920" cy="1298448"/>
        </p:xfrm>
        <a:graphic>
          <a:graphicData uri="http://schemas.openxmlformats.org/drawingml/2006/table">
            <a:tbl>
              <a:tblPr bandRow="1"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98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calls Adobe's MCP server to batch-process assets using scripted actions.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5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7344" y="107899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522</Words>
  <Application>Microsoft Office PowerPoint</Application>
  <PresentationFormat>On-screen Show (16:9)</PresentationFormat>
  <Paragraphs>85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Context Protocol (MCP)</dc:title>
  <dc:subject>PptxGenJS Presentation</dc:subject>
  <dc:creator>PptxGenJS</dc:creator>
  <cp:lastModifiedBy>Laxmi Kant Tiwari</cp:lastModifiedBy>
  <cp:revision>3</cp:revision>
  <dcterms:created xsi:type="dcterms:W3CDTF">2026-05-06T13:40:29Z</dcterms:created>
  <dcterms:modified xsi:type="dcterms:W3CDTF">2026-05-09T03:26:00Z</dcterms:modified>
</cp:coreProperties>
</file>